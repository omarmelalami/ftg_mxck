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76" r:id="rId6"/>
    <p:sldId id="277" r:id="rId7"/>
    <p:sldId id="266" r:id="rId8"/>
    <p:sldId id="268" r:id="rId9"/>
    <p:sldId id="269" r:id="rId10"/>
    <p:sldId id="270" r:id="rId11"/>
    <p:sldId id="271" r:id="rId12"/>
    <p:sldId id="273" r:id="rId13"/>
    <p:sldId id="274" r:id="rId14"/>
    <p:sldId id="275" r:id="rId15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de-DE" sz="1800" b="0" strike="noStrike" spc="-1">
                <a:solidFill>
                  <a:schemeClr val="dk1"/>
                </a:solidFill>
                <a:latin typeface="Calibri"/>
              </a:rPr>
              <a:t>Folie mittels Klicken verschieben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Format der Notizen mittels Klicken bearbeiten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de-DE" sz="1400" b="0" strike="noStrike" spc="-1">
                <a:solidFill>
                  <a:srgbClr val="000000"/>
                </a:solidFill>
                <a:latin typeface="Times New Roman"/>
              </a:rPr>
              <a:t>&lt;Kopfzeile&gt;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strike="noStrike" spc="-1">
                <a:solidFill>
                  <a:srgbClr val="000000"/>
                </a:solidFill>
                <a:latin typeface="Times New Roman"/>
              </a:rPr>
              <a:t>&lt;Datum/Uhrzeit&gt;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de-D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strike="noStrike" spc="-1">
                <a:solidFill>
                  <a:srgbClr val="000000"/>
                </a:solidFill>
                <a:latin typeface="Times New Roman"/>
              </a:rPr>
              <a:t>&lt;Fußzeile&gt;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FCD613F-230F-469D-B79B-913E8CD88714}" type="slidenum">
              <a:rPr lang="de-DE" sz="1400" b="0" strike="noStrike" spc="-1">
                <a:solidFill>
                  <a:srgbClr val="000000"/>
                </a:solidFill>
                <a:latin typeface="Times New Roman"/>
              </a:rPr>
              <a:t>‹Nr.›</a:t>
            </a:fld>
            <a:endParaRPr lang="de-D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BC880F-A81E-4414-83B2-C608678B7D6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522493-D969-4312-8AC7-E5B2A1F048B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358656-888D-413C-A082-255BC3F0358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67F74B-7090-46FF-8590-C7B5BBD9D61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2EBF-E456-BD30-0595-0C258A51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>
            <a:extLst>
              <a:ext uri="{FF2B5EF4-FFF2-40B4-BE49-F238E27FC236}">
                <a16:creationId xmlns:a16="http://schemas.microsoft.com/office/drawing/2014/main" id="{2D10C39C-9BD3-D762-F4B6-4DB6C2D22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>
            <a:extLst>
              <a:ext uri="{FF2B5EF4-FFF2-40B4-BE49-F238E27FC236}">
                <a16:creationId xmlns:a16="http://schemas.microsoft.com/office/drawing/2014/main" id="{2AC2EE7C-9262-DF9D-0C1C-384433DAAC0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>
            <a:extLst>
              <a:ext uri="{FF2B5EF4-FFF2-40B4-BE49-F238E27FC236}">
                <a16:creationId xmlns:a16="http://schemas.microsoft.com/office/drawing/2014/main" id="{CA766F41-EFC7-F69C-64DC-C258762425A9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67F74B-7090-46FF-8590-C7B5BBD9D61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1013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E4C3-79CF-6A20-5F78-3F55EAD91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>
            <a:extLst>
              <a:ext uri="{FF2B5EF4-FFF2-40B4-BE49-F238E27FC236}">
                <a16:creationId xmlns:a16="http://schemas.microsoft.com/office/drawing/2014/main" id="{8472DA5E-A767-3DA2-9F2F-83D8BB0E6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>
            <a:extLst>
              <a:ext uri="{FF2B5EF4-FFF2-40B4-BE49-F238E27FC236}">
                <a16:creationId xmlns:a16="http://schemas.microsoft.com/office/drawing/2014/main" id="{C6B0127B-369F-1827-FB74-CE33709CB8E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>
            <a:extLst>
              <a:ext uri="{FF2B5EF4-FFF2-40B4-BE49-F238E27FC236}">
                <a16:creationId xmlns:a16="http://schemas.microsoft.com/office/drawing/2014/main" id="{CB6E8112-5F9E-08E6-3988-33E182017979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AEDE3C-AADF-4C14-9E5C-A0341AA10E5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9158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8BF995-04BC-44B0-9747-86E865FAC66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EA77F5-0BD3-4489-9F27-4E563A58BBC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E90D51-5F54-40D3-A092-B5033753D23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D06790-63C2-4817-A325-5D8E51AC18E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D958E3-1887-4896-A319-6D5E307BE8C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F341F6-7BCD-4F26-9445-C6043221D0E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30444-C4DF-4464-8C7B-8395705B2DA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833E41-EA8E-4B9C-AC12-EBC9D0E4CEF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de-D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de-DE" sz="1800" b="0" strike="noStrike" spc="-1">
                <a:solidFill>
                  <a:schemeClr val="dk1"/>
                </a:solidFill>
                <a:latin typeface="Calibri"/>
              </a:rPr>
              <a:t>Format des Titeltextes durch Klicken bearbeiten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804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strike="noStrike" spc="-1">
                <a:solidFill>
                  <a:schemeClr val="dk1"/>
                </a:solidFill>
                <a:latin typeface="Calibri"/>
              </a:rPr>
              <a:t>Format des Gliederungstextes durch Klicken bearbeiten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strike="noStrike" spc="-1">
                <a:solidFill>
                  <a:schemeClr val="dk1"/>
                </a:solidFill>
                <a:latin typeface="Calibri"/>
              </a:rPr>
              <a:t>Zweite Gliederungsebene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chemeClr val="dk1"/>
                </a:solidFill>
                <a:latin typeface="Calibri"/>
              </a:rPr>
              <a:t>Dritte Gliederungsebene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>
                <a:solidFill>
                  <a:schemeClr val="dk1"/>
                </a:solidFill>
                <a:latin typeface="Calibri"/>
              </a:rPr>
              <a:t>Vierte Gliederungsebene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chemeClr val="dk1"/>
                </a:solidFill>
                <a:latin typeface="Calibri"/>
              </a:rPr>
              <a:t>Fünfte Gliederungsebene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chemeClr val="dk1"/>
                </a:solidFill>
                <a:latin typeface="Calibri"/>
              </a:rPr>
              <a:t>Sechste Gliederungsebene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chemeClr val="dk1"/>
                </a:solidFill>
                <a:latin typeface="Calibri"/>
              </a:rPr>
              <a:t>Siebte Gliederungsebene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7F905D0-E069-7D7C-4FC5-310CD8348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9" t="-186" r="288" b="9811"/>
          <a:stretch>
            <a:fillRect/>
          </a:stretch>
        </p:blipFill>
        <p:spPr>
          <a:xfrm>
            <a:off x="0" y="44954"/>
            <a:ext cx="9143640" cy="5397023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" name="Image 0" descr="/home/claude/presentation/images/thm.png"/>
          <p:cNvPicPr/>
          <p:nvPr/>
        </p:nvPicPr>
        <p:blipFill>
          <a:blip r:embed="rId4"/>
          <a:stretch/>
        </p:blipFill>
        <p:spPr>
          <a:xfrm>
            <a:off x="365760" y="228600"/>
            <a:ext cx="1828440" cy="612360"/>
          </a:xfrm>
          <a:prstGeom prst="rect">
            <a:avLst/>
          </a:prstGeom>
          <a:ln w="0">
            <a:noFill/>
          </a:ln>
        </p:spPr>
      </p:pic>
      <p:sp>
        <p:nvSpPr>
          <p:cNvPr id="14" name="Text 5"/>
          <p:cNvSpPr/>
          <p:nvPr/>
        </p:nvSpPr>
        <p:spPr>
          <a:xfrm>
            <a:off x="4269492" y="420894"/>
            <a:ext cx="4508748" cy="108615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strike="noStrik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Entwicklung</a:t>
            </a:r>
            <a:r>
              <a:rPr lang="en-US" sz="1700" strike="no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, Integration und </a:t>
            </a:r>
            <a:r>
              <a:rPr lang="en-US" sz="1700" strike="noStrik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Validierung</a:t>
            </a:r>
            <a:r>
              <a:rPr lang="en-US" sz="1700" strike="no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 </a:t>
            </a:r>
            <a:r>
              <a:rPr lang="en-US" sz="1700" strike="noStrik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einer</a:t>
            </a:r>
            <a:r>
              <a:rPr lang="en-US" sz="1700" strike="no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 ROS 2-basierten </a:t>
            </a:r>
            <a:r>
              <a:rPr lang="en-US" sz="1700" strike="noStrik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Hinderniserkennung</a:t>
            </a:r>
            <a:r>
              <a:rPr lang="en-US" sz="1700" strike="no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 </a:t>
            </a:r>
            <a:r>
              <a:rPr lang="en-US" sz="1700" strike="noStrik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mit</a:t>
            </a:r>
            <a:r>
              <a:rPr lang="en-US" sz="1700" strike="no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 </a:t>
            </a:r>
            <a:r>
              <a:rPr lang="en-US" sz="1700" strike="noStrik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Reaktionsstrategie</a:t>
            </a:r>
            <a:r>
              <a:rPr lang="en-US" sz="1700" strike="no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 für </a:t>
            </a:r>
            <a:r>
              <a:rPr lang="en-US" sz="1700" strike="noStrik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automatisierte</a:t>
            </a:r>
            <a:r>
              <a:rPr lang="en-US" sz="1700" strike="no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 </a:t>
            </a:r>
            <a:r>
              <a:rPr lang="en-US" sz="1700" strike="noStrik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</a:rPr>
              <a:t>Modellfahrzeuge</a:t>
            </a:r>
            <a:endParaRPr lang="de-DE" sz="1700" strike="noStrik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5830159" y="4348616"/>
            <a:ext cx="3237854" cy="52524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Aly </a:t>
            </a:r>
            <a:r>
              <a:rPr lang="en-US" sz="11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Elbermawy</a:t>
            </a:r>
            <a:r>
              <a:rPr lang="en-US" sz="11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 |  Omar Elalami  |  Zakaria </a:t>
            </a:r>
            <a:r>
              <a:rPr lang="en-US" sz="11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Elaboudi</a:t>
            </a:r>
            <a:endParaRPr lang="de-DE" sz="11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 dirty="0" err="1">
                <a:solidFill>
                  <a:srgbClr val="80BA24"/>
                </a:solidFill>
                <a:latin typeface="Arial"/>
                <a:ea typeface="Arial"/>
              </a:rPr>
              <a:t>Betreuer</a:t>
            </a:r>
            <a:r>
              <a:rPr lang="en-US" sz="1100" b="1" strike="noStrike" spc="-1" dirty="0">
                <a:solidFill>
                  <a:srgbClr val="80BA24"/>
                </a:solidFill>
                <a:latin typeface="Arial"/>
                <a:ea typeface="Arial"/>
              </a:rPr>
              <a:t>: Prof. Dr. Benedikt Lattke</a:t>
            </a:r>
            <a:endParaRPr lang="de-DE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20" name="Text 1"/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Agenda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274320" y="1265332"/>
            <a:ext cx="5736985" cy="27992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25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1. Motivation und Ziel</a:t>
            </a:r>
            <a:endParaRPr lang="de-DE" sz="13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250000"/>
              </a:lnSpc>
              <a:tabLst>
                <a:tab pos="0" algn="l"/>
              </a:tabLst>
            </a:pPr>
            <a:r>
              <a:rPr lang="en-US" sz="1300" b="1" spc="-1" dirty="0">
                <a:solidFill>
                  <a:srgbClr val="3A4A56"/>
                </a:solidFill>
                <a:latin typeface="Arial"/>
                <a:ea typeface="Arial"/>
              </a:rPr>
              <a:t>2</a:t>
            </a:r>
            <a:r>
              <a:rPr lang="en-US" sz="13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. Follow-the-Gap-</a:t>
            </a:r>
            <a:r>
              <a:rPr lang="en-US" sz="13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Algorithmus</a:t>
            </a:r>
            <a:endParaRPr lang="de-DE" sz="13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250000"/>
              </a:lnSpc>
              <a:tabLst>
                <a:tab pos="0" algn="l"/>
              </a:tabLst>
            </a:pPr>
            <a:r>
              <a:rPr lang="en-US" sz="1300" b="1" spc="-1" dirty="0">
                <a:solidFill>
                  <a:srgbClr val="3A4A56"/>
                </a:solidFill>
                <a:latin typeface="Arial"/>
                <a:ea typeface="Arial"/>
              </a:rPr>
              <a:t>3</a:t>
            </a:r>
            <a:r>
              <a:rPr lang="en-US" sz="13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. </a:t>
            </a:r>
            <a:r>
              <a:rPr lang="en-US" sz="13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Systemarchitektur</a:t>
            </a:r>
            <a:endParaRPr lang="de-DE" sz="13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25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4. </a:t>
            </a:r>
            <a:r>
              <a:rPr lang="en-US" sz="13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Parametrierung</a:t>
            </a:r>
            <a:endParaRPr lang="de-DE" sz="13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25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5. </a:t>
            </a:r>
            <a:r>
              <a:rPr lang="en-US" sz="13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Validierung</a:t>
            </a:r>
            <a:r>
              <a:rPr lang="en-US" sz="13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: Aufbau und </a:t>
            </a:r>
            <a:r>
              <a:rPr lang="en-US" sz="13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Ergebnisse</a:t>
            </a:r>
            <a:endParaRPr lang="de-DE" sz="13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25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6. </a:t>
            </a:r>
            <a:r>
              <a:rPr lang="en-US" sz="13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Diskussion</a:t>
            </a:r>
            <a:r>
              <a:rPr lang="en-US" sz="13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 und </a:t>
            </a:r>
            <a:r>
              <a:rPr lang="en-US" sz="13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Fazit</a:t>
            </a:r>
            <a:endParaRPr lang="de-DE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6858000" y="1463040"/>
            <a:ext cx="548280" cy="54828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7498080" y="1463040"/>
            <a:ext cx="548280" cy="548280"/>
          </a:xfrm>
          <a:prstGeom prst="rect">
            <a:avLst/>
          </a:prstGeom>
          <a:solidFill>
            <a:srgbClr val="4D60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8138160" y="1463040"/>
            <a:ext cx="548280" cy="548280"/>
          </a:xfrm>
          <a:prstGeom prst="rect">
            <a:avLst/>
          </a:prstGeom>
          <a:solidFill>
            <a:srgbClr val="80BA24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6858000" y="2103120"/>
            <a:ext cx="548280" cy="548280"/>
          </a:xfrm>
          <a:prstGeom prst="rect">
            <a:avLst/>
          </a:prstGeom>
          <a:solidFill>
            <a:srgbClr val="4D606F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7498080" y="2103120"/>
            <a:ext cx="548280" cy="548280"/>
          </a:xfrm>
          <a:prstGeom prst="rect">
            <a:avLst/>
          </a:prstGeom>
          <a:solidFill>
            <a:srgbClr val="80BA24">
              <a:alpha val="7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32" name="Text 1"/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Motivation und Ziel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274320" y="1417320"/>
            <a:ext cx="8115300" cy="1057104"/>
          </a:xfrm>
          <a:prstGeom prst="rect">
            <a:avLst/>
          </a:prstGeom>
          <a:solidFill>
            <a:srgbClr val="80BA24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274320" y="1463040"/>
            <a:ext cx="7668768" cy="10089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Aufgabenstellung</a:t>
            </a:r>
            <a:r>
              <a:rPr lang="en-US" strike="noStrike" spc="-1" dirty="0">
                <a:solidFill>
                  <a:srgbClr val="3A4A56"/>
                </a:solidFill>
                <a:latin typeface="Arial"/>
                <a:ea typeface="Arial"/>
              </a:rPr>
              <a:t>: </a:t>
            </a:r>
            <a:r>
              <a:rPr lang="en-US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Entwicklung</a:t>
            </a:r>
            <a:r>
              <a:rPr lang="en-US" strike="noStrike" spc="-1" dirty="0">
                <a:solidFill>
                  <a:srgbClr val="3A4A56"/>
                </a:solidFill>
                <a:latin typeface="Arial"/>
                <a:ea typeface="Arial"/>
              </a:rPr>
              <a:t> </a:t>
            </a:r>
            <a:r>
              <a:rPr lang="en-US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einer</a:t>
            </a:r>
            <a:r>
              <a:rPr lang="en-US" strike="noStrike" spc="-1" dirty="0">
                <a:solidFill>
                  <a:srgbClr val="3A4A56"/>
                </a:solidFill>
                <a:latin typeface="Arial"/>
                <a:ea typeface="Arial"/>
              </a:rPr>
              <a:t> </a:t>
            </a:r>
            <a:r>
              <a:rPr lang="en-US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Fahrfunktion</a:t>
            </a:r>
            <a:r>
              <a:rPr lang="en-US" strike="noStrike" spc="-1" dirty="0">
                <a:solidFill>
                  <a:srgbClr val="3A4A56"/>
                </a:solidFill>
                <a:latin typeface="Arial"/>
                <a:ea typeface="Arial"/>
              </a:rPr>
              <a:t> </a:t>
            </a:r>
            <a:r>
              <a:rPr lang="en-US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zur</a:t>
            </a:r>
            <a:r>
              <a:rPr lang="en-US" strike="noStrike" spc="-1" dirty="0">
                <a:solidFill>
                  <a:srgbClr val="3A4A56"/>
                </a:solidFill>
                <a:latin typeface="Arial"/>
                <a:ea typeface="Arial"/>
              </a:rPr>
              <a:t> </a:t>
            </a:r>
            <a:r>
              <a:rPr lang="en-US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Hinderniserkennung</a:t>
            </a:r>
            <a:r>
              <a:rPr lang="en-US" strike="noStrike" spc="-1" dirty="0">
                <a:solidFill>
                  <a:srgbClr val="3A4A56"/>
                </a:solidFill>
                <a:latin typeface="Arial"/>
                <a:ea typeface="Arial"/>
              </a:rPr>
              <a:t> für </a:t>
            </a:r>
            <a:r>
              <a:rPr lang="en-US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ein</a:t>
            </a:r>
            <a:r>
              <a:rPr lang="en-US" strike="noStrike" spc="-1" dirty="0">
                <a:solidFill>
                  <a:srgbClr val="3A4A56"/>
                </a:solidFill>
                <a:latin typeface="Arial"/>
                <a:ea typeface="Arial"/>
              </a:rPr>
              <a:t> </a:t>
            </a:r>
            <a:r>
              <a:rPr lang="en-US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automatisiertes</a:t>
            </a:r>
            <a:r>
              <a:rPr lang="en-US" strike="noStrike" spc="-1" dirty="0">
                <a:solidFill>
                  <a:srgbClr val="3A4A56"/>
                </a:solidFill>
                <a:latin typeface="Arial"/>
                <a:ea typeface="Arial"/>
              </a:rPr>
              <a:t> </a:t>
            </a:r>
            <a:r>
              <a:rPr lang="en-US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Modellfahrzeug</a:t>
            </a:r>
            <a:r>
              <a:rPr lang="en-US" strike="noStrike" spc="-1" dirty="0">
                <a:solidFill>
                  <a:srgbClr val="3A4A56"/>
                </a:solidFill>
                <a:latin typeface="Arial"/>
                <a:ea typeface="Arial"/>
              </a:rPr>
              <a:t> auf Basis des </a:t>
            </a:r>
            <a:r>
              <a:rPr lang="en-US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MxCarkit</a:t>
            </a:r>
            <a:r>
              <a:rPr lang="en-US" strike="noStrike" spc="-1" dirty="0">
                <a:solidFill>
                  <a:srgbClr val="3A4A56"/>
                </a:solidFill>
                <a:latin typeface="Arial"/>
                <a:ea typeface="Arial"/>
              </a:rPr>
              <a:t>-Systems.</a:t>
            </a:r>
            <a:endParaRPr lang="de-DE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274320" y="25603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Anforderungen</a:t>
            </a:r>
            <a:r>
              <a:rPr lang="en-US" b="1" strike="noStrike" spc="-1" dirty="0">
                <a:solidFill>
                  <a:srgbClr val="3A4A56"/>
                </a:solidFill>
                <a:latin typeface="Arial"/>
                <a:ea typeface="Arial"/>
              </a:rPr>
              <a:t>:</a:t>
            </a:r>
            <a:endParaRPr lang="de-DE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274320" y="2894900"/>
            <a:ext cx="5396450" cy="13633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ts val="22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Echtzeitfähige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Hinderniserkennung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22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Reaktionsstrategie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: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Abbremsen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und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Ausweichen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22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Integration in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bestehende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MXCK-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Steuerarchitektur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22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Experimentelle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Validierung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unter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Laborbedingungen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5551898" y="2520864"/>
            <a:ext cx="2348518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Gewählter</a:t>
            </a:r>
            <a:r>
              <a:rPr lang="en-US" sz="20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 Ansatz:</a:t>
            </a:r>
            <a:endParaRPr lang="de-DE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5670770" y="2894900"/>
            <a:ext cx="2718850" cy="1411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Follow-the-Gap(FTG) </a:t>
            </a: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Rein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reaktiv</a:t>
            </a:r>
            <a:endParaRPr lang="en-US" b="0" strike="noStrike" spc="-1" dirty="0">
              <a:solidFill>
                <a:srgbClr val="4D606F"/>
              </a:solidFill>
              <a:latin typeface="Arial"/>
              <a:ea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scan-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basiert</a:t>
            </a:r>
            <a:endParaRPr lang="en-US" b="0" strike="noStrike" spc="-1" dirty="0">
              <a:solidFill>
                <a:srgbClr val="4D606F"/>
              </a:solidFill>
              <a:latin typeface="Arial"/>
              <a:ea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ohne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globale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Karte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oder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Objekterkennung</a:t>
            </a:r>
            <a:endParaRPr lang="de-DE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55" name="Text 1"/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Follow-the-Gap-Algorithmus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3161F77-A61D-570E-3C6D-8744B614E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960" y="1533267"/>
            <a:ext cx="4230678" cy="2441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AAB7970-0B2D-7AB4-8942-F2310137A5F3}"/>
                  </a:ext>
                </a:extLst>
              </p:cNvPr>
              <p:cNvSpPr txBox="1"/>
              <p:nvPr/>
            </p:nvSpPr>
            <p:spPr>
              <a:xfrm>
                <a:off x="225552" y="1387734"/>
                <a:ext cx="5626608" cy="2126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e-DE" dirty="0"/>
                  <a:t>Roboter und Hindernisse werden als Kreise modelliert.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e-DE" dirty="0"/>
                  <a:t>Der Roboter besitzt den Radius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𝒓𝒐𝒃</m:t>
                        </m:r>
                      </m:sub>
                    </m:sSub>
                  </m:oMath>
                </a14:m>
                <a:endParaRPr lang="de-DE" b="1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e-DE" dirty="0"/>
                  <a:t>Auch Hindernisse haben einen jeweiligen Radius.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e-DE" dirty="0"/>
                  <a:t>Die Hindernisse werden um den Roboterradius vergrößert.</a:t>
                </a: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AAB7970-0B2D-7AB4-8942-F2310137A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" y="1387734"/>
                <a:ext cx="5626608" cy="2126864"/>
              </a:xfrm>
              <a:prstGeom prst="rect">
                <a:avLst/>
              </a:prstGeom>
              <a:blipFill>
                <a:blip r:embed="rId5"/>
                <a:stretch>
                  <a:fillRect l="-650" b="-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7BE02-1034-F7F5-C041-07AB57005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>
            <a:extLst>
              <a:ext uri="{FF2B5EF4-FFF2-40B4-BE49-F238E27FC236}">
                <a16:creationId xmlns:a16="http://schemas.microsoft.com/office/drawing/2014/main" id="{8AF004F9-F430-15FA-ECF7-14C7A4B33496}"/>
              </a:ext>
            </a:extLst>
          </p:cNvPr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Image 0" descr="/home/claude/presentation/images/thm.png">
            <a:extLst>
              <a:ext uri="{FF2B5EF4-FFF2-40B4-BE49-F238E27FC236}">
                <a16:creationId xmlns:a16="http://schemas.microsoft.com/office/drawing/2014/main" id="{E95472B5-9FCE-C6A4-7818-CBA3A9B6FA6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55" name="Text 1">
            <a:extLst>
              <a:ext uri="{FF2B5EF4-FFF2-40B4-BE49-F238E27FC236}">
                <a16:creationId xmlns:a16="http://schemas.microsoft.com/office/drawing/2014/main" id="{71389BD5-AFE8-B885-76B6-962024FEBF1E}"/>
              </a:ext>
            </a:extLst>
          </p:cNvPr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Follow-the-Gap-Algorithmus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>
            <a:extLst>
              <a:ext uri="{FF2B5EF4-FFF2-40B4-BE49-F238E27FC236}">
                <a16:creationId xmlns:a16="http://schemas.microsoft.com/office/drawing/2014/main" id="{0F463226-4BED-73C3-239E-E076EDE9FA31}"/>
              </a:ext>
            </a:extLst>
          </p:cNvPr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>
            <a:extLst>
              <a:ext uri="{FF2B5EF4-FFF2-40B4-BE49-F238E27FC236}">
                <a16:creationId xmlns:a16="http://schemas.microsoft.com/office/drawing/2014/main" id="{C3776618-DC35-DFEB-BBF6-F785EE55A497}"/>
              </a:ext>
            </a:extLst>
          </p:cNvPr>
          <p:cNvSpPr/>
          <p:nvPr/>
        </p:nvSpPr>
        <p:spPr>
          <a:xfrm>
            <a:off x="0" y="4919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DF3DF5D7-5F24-7691-706C-65D25710F13E}"/>
              </a:ext>
            </a:extLst>
          </p:cNvPr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180E792-EB43-C985-9F11-94EAE25FE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721" y="1313326"/>
            <a:ext cx="1698219" cy="30664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31AFEFF-899F-7FEC-4C7A-0E5FB56E3E1A}"/>
                  </a:ext>
                </a:extLst>
              </p:cNvPr>
              <p:cNvSpPr txBox="1"/>
              <p:nvPr/>
            </p:nvSpPr>
            <p:spPr>
              <a:xfrm>
                <a:off x="274320" y="1284081"/>
                <a:ext cx="6293394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b="1" dirty="0"/>
                  <a:t>Schritt 1</a:t>
                </a: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Bestimmung des nächstgelegenen LiDAR-Messpunkts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Anwendung einer Sicherheitsblase mit Radius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de-DE" dirty="0"/>
              </a:p>
              <a:p>
                <a:r>
                  <a:rPr lang="de-DE" b="1" dirty="0"/>
                  <a:t>Schritt 2</a:t>
                </a: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Setzen aller Punkte innerhalb der Blase auf 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Definition aller Punkte ungleich 0 als freier Raum</a:t>
                </a:r>
              </a:p>
              <a:p>
                <a:r>
                  <a:rPr lang="de-DE" b="1" dirty="0"/>
                  <a:t>Schritt 3</a:t>
                </a: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Bestimmung der längsten zusammenhängenden Folge freier Punkte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Definition dieser Folge als größte Lücke (</a:t>
                </a:r>
                <a:r>
                  <a:rPr lang="de-DE" b="1" dirty="0" err="1"/>
                  <a:t>max-gap</a:t>
                </a:r>
                <a:r>
                  <a:rPr lang="de-DE" dirty="0"/>
                  <a:t>)</a:t>
                </a:r>
              </a:p>
              <a:p>
                <a:r>
                  <a:rPr lang="de-DE" b="1" dirty="0"/>
                  <a:t>Schritt 4</a:t>
                </a: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Auswahl des am weitesten entfernten Punkts im freien Raum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Berechnung des Lenkwinkels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31AFEFF-899F-7FEC-4C7A-0E5FB56E3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1284081"/>
                <a:ext cx="6293394" cy="3693319"/>
              </a:xfrm>
              <a:prstGeom prst="rect">
                <a:avLst/>
              </a:prstGeom>
              <a:blipFill>
                <a:blip r:embed="rId5"/>
                <a:stretch>
                  <a:fillRect l="-775" t="-990" b="-1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63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E1E2-6D95-AB27-7F11-D2C4E50E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>
            <a:extLst>
              <a:ext uri="{FF2B5EF4-FFF2-40B4-BE49-F238E27FC236}">
                <a16:creationId xmlns:a16="http://schemas.microsoft.com/office/drawing/2014/main" id="{694EE3AC-929A-D458-FD9C-D3F69EE4BC7F}"/>
              </a:ext>
            </a:extLst>
          </p:cNvPr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Image 0" descr="/home/claude/presentation/images/thm.png">
            <a:extLst>
              <a:ext uri="{FF2B5EF4-FFF2-40B4-BE49-F238E27FC236}">
                <a16:creationId xmlns:a16="http://schemas.microsoft.com/office/drawing/2014/main" id="{F86786DE-0519-3A5D-B224-D0437106509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66" name="Text 1">
            <a:extLst>
              <a:ext uri="{FF2B5EF4-FFF2-40B4-BE49-F238E27FC236}">
                <a16:creationId xmlns:a16="http://schemas.microsoft.com/office/drawing/2014/main" id="{291A1D3A-4176-2D5D-74A8-1C9DCF8298E9}"/>
              </a:ext>
            </a:extLst>
          </p:cNvPr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Gesamtarchitektur des FTG-Stacks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">
            <a:extLst>
              <a:ext uri="{FF2B5EF4-FFF2-40B4-BE49-F238E27FC236}">
                <a16:creationId xmlns:a16="http://schemas.microsoft.com/office/drawing/2014/main" id="{B6B388A6-5DD5-DB7B-F1E2-802FF9F46A5C}"/>
              </a:ext>
            </a:extLst>
          </p:cNvPr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5AD9B83E-D898-3F47-D122-2B2B949048D5}"/>
              </a:ext>
            </a:extLst>
          </p:cNvPr>
          <p:cNvSpPr/>
          <p:nvPr/>
        </p:nvSpPr>
        <p:spPr>
          <a:xfrm>
            <a:off x="274320" y="111564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5A6A76"/>
                </a:solidFill>
                <a:latin typeface="Arial"/>
                <a:ea typeface="Arial"/>
              </a:rPr>
              <a:t>Vier Verarbeitungsstufen: Perception → FTG-Kern → Planner → Control</a:t>
            </a:r>
            <a:endParaRPr lang="de-DE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CBA236E8-228B-A2D8-58B8-1411B953CDD5}"/>
              </a:ext>
            </a:extLst>
          </p:cNvPr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905054EE-E4A6-EAEC-3558-EC9D3DD02AF0}"/>
              </a:ext>
            </a:extLst>
          </p:cNvPr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E1DCB61-8313-336D-8F5F-EDDB54219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081" y="825368"/>
            <a:ext cx="3831239" cy="3927987"/>
          </a:xfrm>
          <a:prstGeom prst="rect">
            <a:avLst/>
          </a:prstGeom>
        </p:spPr>
      </p:pic>
      <p:sp>
        <p:nvSpPr>
          <p:cNvPr id="5" name="Text 6"/>
          <p:cNvSpPr/>
          <p:nvPr/>
        </p:nvSpPr>
        <p:spPr>
          <a:xfrm>
            <a:off x="503100" y="16599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Kernprinzip</a:t>
            </a:r>
            <a:r>
              <a:rPr lang="en-US" sz="14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:</a:t>
            </a:r>
            <a:endParaRPr lang="de-DE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7"/>
          <p:cNvSpPr/>
          <p:nvPr/>
        </p:nvSpPr>
        <p:spPr>
          <a:xfrm>
            <a:off x="503100" y="2025720"/>
            <a:ext cx="41144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Modulare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,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strikt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getrennte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Stufen</a:t>
            </a:r>
            <a:endParaRPr lang="de-DE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Nur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Sollwerte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an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Fahrzeugsteuerung</a:t>
            </a:r>
            <a:endParaRPr lang="de-DE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Bestehende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Sicherheitslogik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bleibt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erhalten</a:t>
            </a:r>
            <a:endParaRPr lang="de-DE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Scan-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basierter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Hauptpfad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(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kein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Obstacles-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Pfad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)</a:t>
            </a:r>
            <a:endParaRPr lang="de-DE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Reaktive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Hindernisvermeidung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als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autonomer</a:t>
            </a:r>
            <a:r>
              <a:rPr lang="en-US" sz="12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Entscheidungsweg</a:t>
            </a:r>
            <a:endParaRPr lang="de-DE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147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125" name="Text 1"/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Validierung: Versuchsaufbau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274320" y="111564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5A6A76"/>
                </a:solidFill>
                <a:latin typeface="Arial"/>
                <a:ea typeface="Arial"/>
              </a:rPr>
              <a:t>Zwei L-förmige Korridorstrecken mit je drei Hindernissen</a:t>
            </a:r>
            <a:endParaRPr lang="de-DE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Image 1" descr="/home/claude/presentation/images/validation_course_A_schematic.png"/>
          <p:cNvPicPr/>
          <p:nvPr/>
        </p:nvPicPr>
        <p:blipFill>
          <a:blip r:embed="rId4"/>
          <a:stretch/>
        </p:blipFill>
        <p:spPr>
          <a:xfrm>
            <a:off x="182880" y="1417320"/>
            <a:ext cx="4205880" cy="3145320"/>
          </a:xfrm>
          <a:prstGeom prst="rect">
            <a:avLst/>
          </a:prstGeom>
          <a:ln w="0">
            <a:noFill/>
          </a:ln>
        </p:spPr>
      </p:pic>
      <p:pic>
        <p:nvPicPr>
          <p:cNvPr id="131" name="Image 2" descr="/home/claude/presentation/images/validation_course_B_schematic.png"/>
          <p:cNvPicPr/>
          <p:nvPr/>
        </p:nvPicPr>
        <p:blipFill>
          <a:blip r:embed="rId5"/>
          <a:srcRect l="-7124" r="-7124"/>
          <a:stretch/>
        </p:blipFill>
        <p:spPr>
          <a:xfrm>
            <a:off x="4663440" y="1417320"/>
            <a:ext cx="4205880" cy="3145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146" name="Text 1"/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Validierung</a:t>
            </a:r>
            <a:r>
              <a:rPr lang="en-US" sz="22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: </a:t>
            </a:r>
            <a:r>
              <a:rPr lang="en-US" sz="22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Ergebnisse</a:t>
            </a:r>
            <a:r>
              <a:rPr lang="en-US" sz="22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 </a:t>
            </a:r>
            <a:r>
              <a:rPr lang="en-US" sz="22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Strecke</a:t>
            </a:r>
            <a:r>
              <a:rPr lang="en-US" sz="22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 A</a:t>
            </a:r>
            <a:endParaRPr lang="de-DE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274320" y="111564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5A6A76"/>
                </a:solidFill>
                <a:latin typeface="Arial"/>
                <a:ea typeface="Arial"/>
              </a:rPr>
              <a:t>Dauer: 21,0 s — Gap erkannt: 89,8% — 0 Kollisionen</a:t>
            </a:r>
            <a:endParaRPr lang="de-DE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Image 1" descr="/home/claude/presentation/images/ftgVal1_validation_plots.png"/>
          <p:cNvPicPr/>
          <p:nvPr/>
        </p:nvPicPr>
        <p:blipFill>
          <a:blip r:embed="rId4"/>
          <a:stretch/>
        </p:blipFill>
        <p:spPr>
          <a:xfrm>
            <a:off x="182880" y="1417320"/>
            <a:ext cx="8777880" cy="3565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3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154" name="Text 1"/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Validierung: Ergebnisse Strecke B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274320" y="111564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5A6A76"/>
                </a:solidFill>
                <a:latin typeface="Arial"/>
                <a:ea typeface="Arial"/>
              </a:rPr>
              <a:t>Dauer: 39,1 s — Gap erkannt: 56,0% — 0 Kollisionen — 17 s Stale-Phase</a:t>
            </a:r>
            <a:endParaRPr lang="de-DE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Image 1" descr="/home/claude/presentation/images/ftgVal2_validation_plots.png"/>
          <p:cNvPicPr/>
          <p:nvPr/>
        </p:nvPicPr>
        <p:blipFill>
          <a:blip r:embed="rId4"/>
          <a:stretch/>
        </p:blipFill>
        <p:spPr>
          <a:xfrm>
            <a:off x="182880" y="1417320"/>
            <a:ext cx="8777880" cy="3565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1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162" name="Text 1"/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Visualisierung mit Foxglove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"/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274320" y="111564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5A6A76"/>
                </a:solidFill>
                <a:latin typeface="Arial"/>
                <a:ea typeface="Arial"/>
              </a:rPr>
              <a:t>Live-Debugging und Bag-basierte Nachanalyse</a:t>
            </a:r>
            <a:endParaRPr lang="de-DE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Image 1" descr="/home/claude/presentation/images/foxglove_validation_overview.JPG"/>
          <p:cNvPicPr/>
          <p:nvPr/>
        </p:nvPicPr>
        <p:blipFill>
          <a:blip r:embed="rId4"/>
          <a:stretch/>
        </p:blipFill>
        <p:spPr>
          <a:xfrm>
            <a:off x="274320" y="1417320"/>
            <a:ext cx="8595000" cy="3474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9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170" name="Text 1"/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Ergebnisvergleich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4" name="Table 0"/>
          <p:cNvGraphicFramePr/>
          <p:nvPr>
            <p:extLst>
              <p:ext uri="{D42A27DB-BD31-4B8C-83A1-F6EECF244321}">
                <p14:modId xmlns:p14="http://schemas.microsoft.com/office/powerpoint/2010/main" val="3761895203"/>
              </p:ext>
            </p:extLst>
          </p:nvPr>
        </p:nvGraphicFramePr>
        <p:xfrm>
          <a:off x="274320" y="1318080"/>
          <a:ext cx="8229600" cy="3352800"/>
        </p:xfrm>
        <a:graphic>
          <a:graphicData uri="http://schemas.openxmlformats.org/drawingml/2006/table">
            <a:tbl>
              <a:tblPr/>
              <a:tblGrid>
                <a:gridCol w="3040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Metrik</a:t>
                      </a:r>
                      <a:endParaRPr lang="de-DE" sz="14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solidFill>
                      <a:srgbClr val="4D606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1</a:t>
                      </a:r>
                      <a:endParaRPr lang="de-DE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solidFill>
                      <a:srgbClr val="80BA24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2</a:t>
                      </a:r>
                      <a:endParaRPr lang="de-DE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solidFill>
                      <a:srgbClr val="4D60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 dirty="0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Gap-</a:t>
                      </a:r>
                      <a:r>
                        <a:rPr lang="en-US" sz="1400" b="0" strike="noStrike" spc="-1" dirty="0" err="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Erkennung</a:t>
                      </a:r>
                      <a:endParaRPr lang="de-DE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89,8 %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A32D2D"/>
                          </a:solidFill>
                          <a:latin typeface="Arial"/>
                          <a:ea typeface="Arial"/>
                        </a:rPr>
                        <a:t>56,0 %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Planner normal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 dirty="0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90,0 %</a:t>
                      </a:r>
                      <a:endParaRPr lang="de-DE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55,5 %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Planner stale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7,6 %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A32D2D"/>
                          </a:solidFill>
                          <a:latin typeface="Arial"/>
                          <a:ea typeface="Arial"/>
                        </a:rPr>
                        <a:t>32,8 %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target_speed = 0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9,9 %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A32D2D"/>
                          </a:solidFill>
                          <a:latin typeface="Arial"/>
                          <a:ea typeface="Arial"/>
                        </a:rPr>
                        <a:t>44,2 %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Ø Sollgeschwindigkeit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0,34 m/s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0,23 m/s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Ø Frontabstand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0,60 m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0,69 m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Heading-Sättigung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11,4 %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—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Gap-Sättigung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5,2 %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—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 dirty="0" err="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Kollisionen</a:t>
                      </a:r>
                      <a:endParaRPr lang="de-DE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Stop → Ackermann = 0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0 / 42</a:t>
                      </a:r>
                      <a:endParaRPr lang="de-DE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 dirty="0">
                          <a:solidFill>
                            <a:srgbClr val="3A4A56"/>
                          </a:solidFill>
                          <a:latin typeface="Arial"/>
                          <a:ea typeface="Arial"/>
                        </a:rPr>
                        <a:t>0 / 349</a:t>
                      </a:r>
                      <a:endParaRPr lang="de-DE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8EBED"/>
                      </a:solidFill>
                      <a:prstDash val="solid"/>
                    </a:lnL>
                    <a:lnR w="6480">
                      <a:solidFill>
                        <a:srgbClr val="E8EBED"/>
                      </a:solidFill>
                      <a:prstDash val="solid"/>
                    </a:lnR>
                    <a:lnT w="6480">
                      <a:solidFill>
                        <a:srgbClr val="E8EBED"/>
                      </a:solidFill>
                      <a:prstDash val="solid"/>
                    </a:lnT>
                    <a:lnB w="6480">
                      <a:solidFill>
                        <a:srgbClr val="E8EBED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0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191" name="Text 1"/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Fazit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274320" y="1501860"/>
            <a:ext cx="8732520" cy="1828440"/>
          </a:xfrm>
          <a:prstGeom prst="rect">
            <a:avLst/>
          </a:prstGeom>
          <a:solidFill>
            <a:srgbClr val="80BA24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274320" y="113955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 err="1">
                <a:solidFill>
                  <a:srgbClr val="80BA24"/>
                </a:solidFill>
                <a:latin typeface="Arial"/>
                <a:ea typeface="Arial"/>
              </a:rPr>
              <a:t>Erreichte</a:t>
            </a:r>
            <a:r>
              <a:rPr lang="en-US" sz="1600" b="1" strike="noStrike" spc="-1" dirty="0">
                <a:solidFill>
                  <a:srgbClr val="80BA24"/>
                </a:solidFill>
                <a:latin typeface="Arial"/>
                <a:ea typeface="Arial"/>
              </a:rPr>
              <a:t> </a:t>
            </a:r>
            <a:r>
              <a:rPr lang="en-US" sz="1600" b="1" strike="noStrike" spc="-1" dirty="0" err="1">
                <a:solidFill>
                  <a:srgbClr val="80BA24"/>
                </a:solidFill>
                <a:latin typeface="Arial"/>
                <a:ea typeface="Arial"/>
              </a:rPr>
              <a:t>Ziele</a:t>
            </a:r>
            <a:r>
              <a:rPr lang="en-US" sz="1600" b="1" strike="noStrike" spc="-1" dirty="0">
                <a:solidFill>
                  <a:srgbClr val="80BA24"/>
                </a:solidFill>
                <a:latin typeface="Arial"/>
                <a:ea typeface="Arial"/>
              </a:rPr>
              <a:t>: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274320" y="17830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Modularer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scan-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basierter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FTG-Stack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vollständig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implementiert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Konsistente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Integration in die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bestehende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MXCK-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Architektur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Kollisionsfreie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Hindernisvermeidung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experimentell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nachgewiesen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Reproduzierbare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Bag-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basierte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Validierung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durchgeführt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304800" y="34927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Zentrale</a:t>
            </a:r>
            <a:r>
              <a:rPr lang="en-US" sz="16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 </a:t>
            </a:r>
            <a:r>
              <a:rPr lang="en-US" sz="1600" b="1" strike="noStrike" spc="-1" dirty="0" err="1">
                <a:solidFill>
                  <a:srgbClr val="3A4A56"/>
                </a:solidFill>
                <a:latin typeface="Arial"/>
                <a:ea typeface="Arial"/>
              </a:rPr>
              <a:t>Erkenntnis</a:t>
            </a:r>
            <a:r>
              <a:rPr lang="en-US" sz="1600" b="1" strike="noStrike" spc="-1" dirty="0">
                <a:solidFill>
                  <a:srgbClr val="3A4A56"/>
                </a:solidFill>
                <a:latin typeface="Arial"/>
                <a:ea typeface="Arial"/>
              </a:rPr>
              <a:t>: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457200" y="384756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Die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Parametrierung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ist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entscheidend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.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Gleiche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Architektur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mit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anderen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Parametern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führt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zu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völlig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anderem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Fahrverhalten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.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Reproduzierbare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Validierung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und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kritische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Parameterauswertung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sind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unverzichtbar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für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eine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belastbare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sz="1600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Systembewertung</a:t>
            </a:r>
            <a:r>
              <a:rPr lang="en-US" sz="1600" b="0" strike="noStrike" spc="-1" dirty="0">
                <a:solidFill>
                  <a:srgbClr val="4D606F"/>
                </a:solidFill>
                <a:latin typeface="Arial"/>
                <a:ea typeface="Arial"/>
              </a:rPr>
              <a:t>.</a:t>
            </a:r>
            <a:endParaRPr lang="de-DE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1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3716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202" name="Text 1"/>
          <p:cNvSpPr/>
          <p:nvPr/>
        </p:nvSpPr>
        <p:spPr>
          <a:xfrm>
            <a:off x="274320" y="68580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4A56"/>
                </a:solidFill>
                <a:latin typeface="Arial"/>
                <a:ea typeface="Arial"/>
              </a:rPr>
              <a:t>Ausblick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"/>
          <p:cNvSpPr/>
          <p:nvPr/>
        </p:nvSpPr>
        <p:spPr>
          <a:xfrm>
            <a:off x="274320" y="1078920"/>
            <a:ext cx="2286000" cy="360"/>
          </a:xfrm>
          <a:prstGeom prst="line">
            <a:avLst/>
          </a:prstGeom>
          <a:ln w="3175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274320" y="4919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274320" y="1321740"/>
            <a:ext cx="82292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FTG-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Geometrie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parametrisierbar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machen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(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kCarRadius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→ YAML-Parameter)</a:t>
            </a:r>
            <a:endParaRPr lang="de-DE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Clearance-FOV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vom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FTG-FOV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trennen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(separates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engeres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Fenster)</a:t>
            </a:r>
            <a:endParaRPr lang="de-DE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Stop-Propagation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konsequent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korrigieren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(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min_speed_mps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= 0,0)</a:t>
            </a:r>
            <a:endParaRPr lang="de-DE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Erweiterte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Validierung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: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dynamische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Hindernisse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,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Parameterstudien</a:t>
            </a:r>
            <a:endParaRPr lang="de-DE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00000"/>
              </a:lnSpc>
              <a:buClr>
                <a:srgbClr val="4D606F"/>
              </a:buClr>
              <a:buFont typeface="Symbol" charset="2"/>
              <a:buChar char=""/>
            </a:pP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Weiterentwicklung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über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lokale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Reaktion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hinaus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→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globale</a:t>
            </a:r>
            <a:r>
              <a:rPr lang="en-US" b="0" strike="noStrike" spc="-1" dirty="0">
                <a:solidFill>
                  <a:srgbClr val="4D606F"/>
                </a:solidFill>
                <a:latin typeface="Arial"/>
                <a:ea typeface="Arial"/>
              </a:rPr>
              <a:t> </a:t>
            </a:r>
            <a:r>
              <a:rPr lang="en-US" b="0" strike="noStrike" spc="-1" dirty="0" err="1">
                <a:solidFill>
                  <a:srgbClr val="4D606F"/>
                </a:solidFill>
                <a:latin typeface="Arial"/>
                <a:ea typeface="Arial"/>
              </a:rPr>
              <a:t>Pfadplanung</a:t>
            </a:r>
            <a:endParaRPr lang="de-DE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80BA2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de-DE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8" name="Image 0" descr="/home/claude/presentation/images/thm.png"/>
          <p:cNvPicPr/>
          <p:nvPr/>
        </p:nvPicPr>
        <p:blipFill>
          <a:blip r:embed="rId3"/>
          <a:stretch/>
        </p:blipFill>
        <p:spPr>
          <a:xfrm>
            <a:off x="274320" y="182880"/>
            <a:ext cx="1279800" cy="429480"/>
          </a:xfrm>
          <a:prstGeom prst="rect">
            <a:avLst/>
          </a:prstGeom>
          <a:ln w="0">
            <a:noFill/>
          </a:ln>
        </p:spPr>
      </p:pic>
      <p:sp>
        <p:nvSpPr>
          <p:cNvPr id="209" name="Text 1"/>
          <p:cNvSpPr/>
          <p:nvPr/>
        </p:nvSpPr>
        <p:spPr>
          <a:xfrm>
            <a:off x="0" y="164592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3A4A56"/>
                </a:solidFill>
                <a:latin typeface="Arial"/>
                <a:ea typeface="Arial"/>
              </a:rPr>
              <a:t>Vielen Dank!</a:t>
            </a:r>
            <a:endParaRPr lang="de-DE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"/>
          <p:cNvSpPr/>
          <p:nvPr/>
        </p:nvSpPr>
        <p:spPr>
          <a:xfrm>
            <a:off x="3200400" y="2468880"/>
            <a:ext cx="2743200" cy="360"/>
          </a:xfrm>
          <a:prstGeom prst="line">
            <a:avLst/>
          </a:prstGeom>
          <a:ln w="38100">
            <a:solidFill>
              <a:srgbClr val="80BA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0" y="26517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80BA24"/>
                </a:solidFill>
                <a:latin typeface="Arial"/>
                <a:ea typeface="Arial"/>
              </a:rPr>
              <a:t>Fragen?</a:t>
            </a:r>
            <a:endParaRPr lang="de-DE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0" y="411480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A76"/>
                </a:solidFill>
                <a:latin typeface="Arial"/>
                <a:ea typeface="Arial"/>
              </a:rPr>
              <a:t>github.com/OmarMElalami/ftg_mxck</a:t>
            </a:r>
            <a:endParaRPr lang="de-DE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5"/>
          <p:cNvSpPr/>
          <p:nvPr/>
        </p:nvSpPr>
        <p:spPr>
          <a:xfrm>
            <a:off x="0" y="4892040"/>
            <a:ext cx="9144000" cy="360"/>
          </a:xfrm>
          <a:prstGeom prst="line">
            <a:avLst/>
          </a:prstGeom>
          <a:ln w="6350">
            <a:solidFill>
              <a:srgbClr val="E8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0" y="491940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5A6A76"/>
                </a:solidFill>
                <a:latin typeface="Arial"/>
                <a:ea typeface="Arial"/>
              </a:rPr>
              <a:t>THM | Campus Friedberg | Fachbereich 12 | WS 2025/2026</a:t>
            </a:r>
            <a:endParaRPr lang="de-DE" sz="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</TotalTime>
  <Words>588</Words>
  <Application>Microsoft Office PowerPoint</Application>
  <PresentationFormat>Bildschirmpräsentation (16:9)</PresentationFormat>
  <Paragraphs>136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FTG MXCK Projektarbeit</dc:title>
  <dc:subject>PptxGenJS Presentation</dc:subject>
  <dc:creator>Elbermawy, Elalami, Elaboudi</dc:creator>
  <dc:description/>
  <cp:lastModifiedBy>Omar Elalami</cp:lastModifiedBy>
  <cp:revision>14</cp:revision>
  <dcterms:created xsi:type="dcterms:W3CDTF">2026-04-14T06:10:02Z</dcterms:created>
  <dcterms:modified xsi:type="dcterms:W3CDTF">2026-04-14T19:48:42Z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